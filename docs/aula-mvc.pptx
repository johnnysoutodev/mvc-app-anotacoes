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tarde, turma! Hoje vocês vão sair daqui sabendo não só o que é MVC, mas como desenvolver uma funcionalidade de verdade usando essa arquitetura.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ao vivo: app-sem-mvc/server.js.
Olhem esse arquivo, um monólito: o HTML, a validação e os dados estão todos juntos na mesma rota. Funciona? Funciona. Mas se eu precisar mudar só o visual, vou mexer no mesmo lugar onde está a regra. Isso é risco. Reparem nas cores: vermelho recebe o pedido, verde é regra e dado, amarelo é tela. As três responsabilidades já estão aí, só que embaralhadas. Pergunta pra vocês: como organizariam esse código?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MVC é uma forma de dividir o código por responsabilidade. Surgiu no fim dos anos 70 e hoje está em frameworks como Spring, ASP.NET, Laravel, Rails e Express.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Model é o guardião dos dados e das regras. A View é a tela. O Controller é o maestro: recebe o pedido, chama o Model e devolve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Model é o guardião dos dados. Ele sabe como uma nota é estruturada, sabe validar se ela pode ser salva — por exemplo, título obrigatório — e conversa com o banco de dados. O que ele não sabe é como isso vai aparecer na tela. Pensem na cozinha de um restaurante: ela prepara o prato, mas não atende 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View é tudo que o usuário enxerga: a tela, o HTML, o CSS, os botões. Ela recebe dados prontos e só se preocupa em mostrar bem. Ela não decide regra nenhuma. No restaurante, é o prato bem apresentado e o cardápio.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Controller é o maestro. Quando o usuário clica em salvar, é o Controller que recebe esse pedido, pede ao Model para salvar e devolve a resposta para a View. É o garçom: não cozinha e não é o prato, mas conecta o cliente à cozinha.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usuário clica na View, a requisição chega numa rota, a rota chama o Controller, o Controller pede ao Model, o Model fala com o banco, e a resposta volta até 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isso o MVC importa na prática: se eu quiser mudar o visual, mexo só na View. Se eu quiser mudar uma regra, mexo só no Model. Cada camada pode ser testada separadamente, e times diferentes trabalham em paralelo sem pisar no trabalho um do outro. Por isso os principais frameworks do mercado usam essa ideia.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Essa é a receita que vocês vão levar pra vida. Toda funcionalidade nova em MVC segue esse caminho. Agora vamos aplicar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olhando as pastas já dá pra saber onde cada coisa está. Isso é organização. Vou rodar o app e criar uma nota... Agora o cliente pediu: quer poder excluir notas. Vamos seguir a receita.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Pergunta: onde fica o comando que apaga do banco? No Model! Reparem que ele não sabe nada de botão ou tela. O $1 protege contra SQL Injection.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Controller pega o id que veio na URL, pede ao Model para remover e responde 204 — 'deu certo, sem conteúdo'. Ele orquestra, não acessa o banco diretamente.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rota é a porta de entrada. Quando chegar um DELETE em /api/notas/5, ela chama o Controller. Vejam: GET lista, POST cria, DELETE remove.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View só criamos o botão e mandamos o pedido. Nenhuma regra aqui. Se amanhã quiserem o botão vermelho, mexemos só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Funcionou! E respondendo: a regra de negócio entraria no Model. A mudança fica isolada — esse é o ganho do MVC.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Peguem o celular! Vamos ver se ficou claro.
(O PIN aparece quando você inicia o jogo no Kahoot. Perguntas e respostas no item 9 do plano de aula.)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Hoje vocês desenvolveram uma funcionalidade inteira em MVC. Com essa receita vocês conseguem criar editar, buscar, qualquer coisa — sempre camada por camada.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Deixo essas fontes para quem quiser se aprofundar. Obrigado, turma!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822960" cy="82296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731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737360" y="731520"/>
            <a:ext cx="822960" cy="82296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737360" y="731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743200" y="731520"/>
            <a:ext cx="822960" cy="82296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743200" y="731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82880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desenvolver aplicações web na arquitetura MVC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6576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C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Instrutor: Johnny Souto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9C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 Técnico em Desenvolvimento de Sistemas — SENAI-SP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monólito: tudo misturado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Tela, regras e banco de dados no mesmo arquivo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Mudar o visual pode quebrar a regra de negócio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Difícil de testar, manter e dividir na equipe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57200" y="3383280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F1F3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347472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Situação: </a:t>
            </a:r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 o app de anotações em MVC e criar a função "Excluir nota".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3931920" cy="3474720"/>
          </a:xfrm>
          <a:prstGeom prst="roundRect">
            <a:avLst>
              <a:gd name="adj" fmla="val 2105"/>
            </a:avLst>
          </a:prstGeom>
          <a:solidFill>
            <a:srgbClr val="282C3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937760" y="123444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3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app-sem-mvc/server.js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app.post("/notas", (req, res) =&gt;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9A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titulo } = req.body;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FD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(!titulo)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FD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res.send("Erro");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FD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notas.push({ titulo });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res.send(`&lt;html&gt;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&lt;ul&gt;${linhas}&lt;/ul&gt;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&lt;/html&gt;`);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40233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9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Controller  </a:t>
            </a:r>
            <a:pPr indent="0" marL="0">
              <a:buNone/>
            </a:pPr>
            <a:r>
              <a:rPr lang="en-US" sz="1300" b="1" dirty="0">
                <a:solidFill>
                  <a:srgbClr val="6FD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Model  </a:t>
            </a:r>
            <a:pPr indent="0" marL="0">
              <a:buNone/>
            </a:pPr>
            <a:r>
              <a:rPr lang="en-US" sz="13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View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MVC = Model, View, Controller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325880" y="1188720"/>
            <a:ext cx="1005840" cy="100584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5880" y="1188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977640" y="1188720"/>
            <a:ext cx="1005840" cy="100584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977640" y="1188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629400" y="1188720"/>
            <a:ext cx="1005840" cy="100584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188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Controller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017520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Padrão de arquitetura criado por Trygve Reenskaug (Xerox PARC, 1979)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Divide a aplicação em 3 responsabilidades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camada muda por um único motivo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faz o quê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347472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325880"/>
            <a:ext cx="731520" cy="73152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3258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860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ficam os dados e as regras?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6576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models/Nota.js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1097280"/>
            <a:ext cx="2606040" cy="347472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10" name="Shape 8"/>
          <p:cNvSpPr/>
          <p:nvPr/>
        </p:nvSpPr>
        <p:spPr>
          <a:xfrm>
            <a:off x="3520440" y="1325880"/>
            <a:ext cx="731520" cy="73152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20440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3258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22860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 usuário vê?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36576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public/ (HTML, CSS, JS)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1097280"/>
            <a:ext cx="2606040" cy="347472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16" name="Shape 14"/>
          <p:cNvSpPr/>
          <p:nvPr/>
        </p:nvSpPr>
        <p:spPr>
          <a:xfrm>
            <a:off x="6309360" y="1325880"/>
            <a:ext cx="731520" cy="73152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09360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13258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Controller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22860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fazer quando o usuário age?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36576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controllers/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notasController.js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0" cy="73152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2743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0" y="2743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src/models/Nota.js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43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 os dados e as regras de negócio da aplicação.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como é uma "nota"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 regras (título obrigatório)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Salva, busca e remove no banco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66344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faz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monta tela nem HTML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sabe qual botão foi clicado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restaurante: </a:t>
            </a:r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cozinha — conhece as receitas e os ingredientes, e prepara o prato.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0" cy="73152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2743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0" y="2743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public/index.html · script.js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43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camada de apresentação: tudo o que o usuário vê e com que interage.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Exibe os dados (lista de notas)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 formulários e botões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 a ação do usuário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66344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faz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contém regra de negócio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acessa o banco de dados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restaurante: </a:t>
            </a:r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prato servido e o cardápio — é o que o cliente vê.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0" cy="73152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2743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0" y="2743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src/controllers/notasController.js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43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intermediário: recebe a requisição, aciona o Model e devolve a resposta.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5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Recebe a requisição (via rota)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 o Model certo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a resposta (status, dados)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663440" y="17830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1F3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faz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guarda regra de negócio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monta o visual da tela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5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restaurante: </a:t>
            </a:r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garçom — anota o pedido, leva à cozinha e traz o prato.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caminho de um clique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5B647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Usuário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627632" y="2377440"/>
            <a:ext cx="219456" cy="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187452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D98E0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87452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044952" y="2377440"/>
            <a:ext cx="219456" cy="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9184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6B5B9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9184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62272" y="2377440"/>
            <a:ext cx="219456" cy="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70916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C855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0916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879592" y="2377440"/>
            <a:ext cx="219456" cy="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12648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2E8B5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2648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296912" y="2377440"/>
            <a:ext cx="219456" cy="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543800" y="2011680"/>
            <a:ext cx="1143000" cy="731520"/>
          </a:xfrm>
          <a:prstGeom prst="roundRect">
            <a:avLst>
              <a:gd name="adj" fmla="val 12500"/>
            </a:avLst>
          </a:prstGeom>
          <a:solidFill>
            <a:srgbClr val="1F243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43800" y="20116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280660" y="2743200"/>
            <a:ext cx="0" cy="548640"/>
          </a:xfrm>
          <a:prstGeom prst="line">
            <a:avLst/>
          </a:prstGeom>
          <a:noFill/>
          <a:ln w="25400">
            <a:solidFill>
              <a:srgbClr val="C855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46020" y="3291840"/>
            <a:ext cx="2834640" cy="0"/>
          </a:xfrm>
          <a:prstGeom prst="line">
            <a:avLst/>
          </a:prstGeom>
          <a:noFill/>
          <a:ln w="25400">
            <a:solidFill>
              <a:srgbClr val="C8553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2446020" y="2743200"/>
            <a:ext cx="0" cy="548640"/>
          </a:xfrm>
          <a:prstGeom prst="line">
            <a:avLst/>
          </a:prstGeom>
          <a:noFill/>
          <a:ln w="25400">
            <a:solidFill>
              <a:srgbClr val="C8553D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446020" y="3337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85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camada conversa só com a vizinha.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usar MVC?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06040" cy="292608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417320"/>
            <a:ext cx="640080" cy="64008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40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Manutenção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432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Mudou o visual? Mexe só na View. Mudou a regra? Só no Model.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06040" cy="292608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9" name="Shape 7"/>
          <p:cNvSpPr/>
          <p:nvPr/>
        </p:nvSpPr>
        <p:spPr>
          <a:xfrm>
            <a:off x="3520440" y="1417320"/>
            <a:ext cx="640080" cy="64008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2044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2240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27432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camada pode ser testada separadamente.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35040" y="1188720"/>
            <a:ext cx="2606040" cy="2926080"/>
          </a:xfrm>
          <a:prstGeom prst="roundRect">
            <a:avLst>
              <a:gd name="adj" fmla="val 3509"/>
            </a:avLst>
          </a:prstGeom>
          <a:solidFill>
            <a:srgbClr val="F1F3F6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0" y="1417320"/>
            <a:ext cx="640080" cy="6400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2240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Equipe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7432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Front-end e back-end evoluem em paralelo, sem conflito.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Usado em Spring, ASP.NET, Laravel, Ruby on Rails, Django e Express.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passos para criar qualquer funcionalidade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68680" y="1280160"/>
            <a:ext cx="685800" cy="68580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280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48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0604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fazer com os dados?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42032" y="1280160"/>
            <a:ext cx="685800" cy="68580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542032" y="1280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130552" y="2148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130552" y="260604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receber o pedido e responder?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15384" y="1280160"/>
            <a:ext cx="685800" cy="685800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215384" y="1280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3803904" y="2148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5B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Rota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803904" y="260604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URL chama o Controller?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888736" y="1280160"/>
            <a:ext cx="685800" cy="685800"/>
          </a:xfrm>
          <a:prstGeom prst="ellipse">
            <a:avLst/>
          </a:prstGeom>
          <a:solidFill>
            <a:srgbClr val="D98E0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888736" y="1280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5477256" y="2148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477256" y="260604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usuário aciona e vê o resultado?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562088" y="1280160"/>
            <a:ext cx="685800" cy="685800"/>
          </a:xfrm>
          <a:prstGeom prst="ellipse">
            <a:avLst/>
          </a:prstGeom>
          <a:solidFill>
            <a:srgbClr val="1F243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62088" y="1280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7150608" y="2148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Testar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150608" y="260604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 de ponta a ponta?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Agora, ao vivo: a funcionalidade "Excluir nota".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Organização das pastas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3474720"/>
          </a:xfrm>
          <a:prstGeom prst="roundRect">
            <a:avLst>
              <a:gd name="adj" fmla="val 2105"/>
            </a:avLst>
          </a:prstGeom>
          <a:solidFill>
            <a:srgbClr val="282C3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23444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app-mvc/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db/init.sql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src/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config/db.js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models/Nota.js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controllers/notasController.js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routes/notasRoutes.js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app.js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public/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0" y="118872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0" y="11887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11887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models/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0" y="201168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C855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0" y="2011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2011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controllers/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943600" y="283464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6B5B9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0" y="28346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0" y="2834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routes/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43600" y="365760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D98E0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0" y="3657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36576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public/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 · Model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017520" y="320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src/models/Nota.js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5852160" cy="3566160"/>
          </a:xfrm>
          <a:prstGeom prst="roundRect">
            <a:avLst>
              <a:gd name="adj" fmla="val 2051"/>
            </a:avLst>
          </a:prstGeom>
          <a:solidFill>
            <a:srgbClr val="282C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05156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remover(id)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pool.query(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"DELETE FROM notas WHERE id = $1",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[id]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914400"/>
            <a:ext cx="2194560" cy="3566160"/>
          </a:xfrm>
          <a:prstGeom prst="roundRect">
            <a:avLst>
              <a:gd name="adj" fmla="val 3333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097280"/>
            <a:ext cx="1828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fica o comando que apaga do banco?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Model.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 não sabe nada de botão ou tela.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C855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 · Controller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017520" y="320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src/controllers/notasController.js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5852160" cy="3566160"/>
          </a:xfrm>
          <a:prstGeom prst="roundRect">
            <a:avLst>
              <a:gd name="adj" fmla="val 2051"/>
            </a:avLst>
          </a:prstGeom>
          <a:solidFill>
            <a:srgbClr val="282C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05156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function remover(requisicao, resposta)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Nota.remover(requisicao.params.id);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resposta.status(204).send();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914400"/>
            <a:ext cx="2194560" cy="3566160"/>
          </a:xfrm>
          <a:prstGeom prst="roundRect">
            <a:avLst>
              <a:gd name="adj" fmla="val 3333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097280"/>
            <a:ext cx="1828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 o id da URL, chama o Model e responde.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 = deu certo, sem conteúdo.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Orquestra, não acessa o banco.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6B5B9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Rota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017520" y="320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src/routes/notasRoutes.js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5852160" cy="3566160"/>
          </a:xfrm>
          <a:prstGeom prst="roundRect">
            <a:avLst>
              <a:gd name="adj" fmla="val 2051"/>
            </a:avLst>
          </a:prstGeom>
          <a:solidFill>
            <a:srgbClr val="282C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05156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router.get("/notas", controller.listar);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router.post("/notas", controller.criar);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router.delete("/notas/:id",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controller.remover);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914400"/>
            <a:ext cx="2194560" cy="3566160"/>
          </a:xfrm>
          <a:prstGeom prst="roundRect">
            <a:avLst>
              <a:gd name="adj" fmla="val 3333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097280"/>
            <a:ext cx="1828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porta de entrada.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→ lista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→ cria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 → remove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D98E0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4 · View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017520" y="320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public/script.js — dentro do notas.forEach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5852160" cy="3566160"/>
          </a:xfrm>
          <a:prstGeom prst="roundRect">
            <a:avLst>
              <a:gd name="adj" fmla="val 2051"/>
            </a:avLst>
          </a:prstGeom>
          <a:solidFill>
            <a:srgbClr val="282C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05156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botao = document.createElement("button");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botao.textContent = "Excluir";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botao.onclick = async () =&gt;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fetch(`/api/notas/${nota.id}`,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{ method: "DELETE" });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carregarNotas();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item.appendChild(botao);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914400"/>
            <a:ext cx="2194560" cy="3566160"/>
          </a:xfrm>
          <a:prstGeom prst="roundRect">
            <a:avLst>
              <a:gd name="adj" fmla="val 3333"/>
            </a:avLst>
          </a:prstGeom>
          <a:solidFill>
            <a:srgbClr val="F1F3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097280"/>
            <a:ext cx="1828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cria o botão e envia o pedido.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regra aqui.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Botão vermelho? Mexe só na View.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5 · Testar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Testar de ponta a ponta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65760" cy="36576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57200" y="1691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6916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uma nota → aparece na lista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365760" cy="36576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2240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2402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Clicar em "Excluir" → some da lista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2788920"/>
            <a:ext cx="365760" cy="36576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788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Recarregar a página → continua fora (saiu do banco)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1F3F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356616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5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Pergunta: </a:t>
            </a:r>
            <a:pPr indent="0" marL="0">
              <a:buNone/>
            </a:pPr>
            <a:r>
              <a:rPr lang="en-US" sz="17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se a regra fosse "só excluir notas com mais de 1 dia"? Em qual camada?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548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 do Quiz!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kahoot.it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PIN: ______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749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C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perguntas · 20 segundos cada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aprendemos hoje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2E8B5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e regras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D98E0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46120" y="10972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C855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035040" y="10972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Receita: </a:t>
            </a:r>
            <a:pPr indent="0" marL="0">
              <a:buNone/>
            </a:pPr>
            <a:r>
              <a:rPr lang="en-US" sz="18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→ Controller → Rota → View → Testar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Vantagens: </a:t>
            </a:r>
            <a:pPr indent="0" marL="0">
              <a:buNone/>
            </a:pPr>
            <a:r>
              <a:rPr lang="en-US" sz="18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manutenção fácil, testes isolados, equipe trabalhando em paralelo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estudar mais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GAMMA et al. Padrões de Projeto. Bookman, 2000.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FOWLER, M. Padrões de Arquitetura de Aplicações Corporativas. Bookman, 2006.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SOMMERVILLE, I. Engenharia de Software. 10. ed. Pearson, 2018.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MDN Web Docs — MVC: developer.mozilla.org/pt-BR/docs/Glossary/MVC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Express.js — Roteamento: expressjs.com/pt-br/guide/routing.html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Como desenvolver aplicações web na arquitetura MVC</dc:title>
  <dc:subject>PptxGenJS Presentation</dc:subject>
  <dc:creator>Johnny Souto</dc:creator>
  <cp:lastModifiedBy>Johnny Souto</cp:lastModifiedBy>
  <cp:revision>1</cp:revision>
  <dcterms:created xsi:type="dcterms:W3CDTF">2026-09-25T01:52:17Z</dcterms:created>
  <dcterms:modified xsi:type="dcterms:W3CDTF">2026-09-25T01:52:17Z</dcterms:modified>
</cp:coreProperties>
</file>